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005293"/>
                </a:solidFill>
                <a:latin typeface="Segoe UI"/>
              </a:rPr>
              <a:t>MarComms Operating Model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Segoe UI"/>
              </a:rPr>
              <a:t>Executive Background &amp; Project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293"/>
                </a:solidFill>
                <a:latin typeface="Segoe UI"/>
              </a:rPr>
              <a:t>Background: What We Have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2468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96C7"/>
                </a:solidFill>
                <a:latin typeface="Segoe UI"/>
              </a:rPr>
              <a:t>From Discovery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MarComms operates in a complex, high-volume, matrixed environment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Most work requires multiple teams and handoffs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Review cycles are heavy and timelines remain long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Ownership and visibility are not always clear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Speed and integration are recurring challenges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Teams are highly committed to quality and 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2468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96C7"/>
                </a:solidFill>
                <a:latin typeface="Segoe UI"/>
              </a:rPr>
              <a:t>From Past Improvement Efforts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This problem has been addressed multiple times before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Some timelines improved initially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Improvements were not sustained over 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Many outputs remain slower than external benchmarks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Segoe UI"/>
              </a:rPr>
              <a:t>• Deeper, systemic change has been hard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8229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Segoe UI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egoe UI"/>
              </a:rPr>
              <a:t>We have made progress before, but it has not scaled or lasted.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63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Segoe UI"/>
              </a:rPr>
              <a:t>Based on discovery sessions with key stakeholders and functional leaders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293"/>
                </a:solidFill>
                <a:latin typeface="Segoe UI"/>
              </a:rPr>
              <a:t>Why This Has Been Hard to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743200" cy="3200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Process &amp;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Existing workflows are difficult to disrupt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End-to-end ownership is unclear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Different content types treated similarly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Processes reflect history more than current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2743200" cy="3200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Culture &amp;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3258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Strong emphasis on perfection over speed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Risk aversion driven by past experiences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"More work" sometimes seen as "more value"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Many handoffs treated as individual jobs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91440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Change &amp;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Past efforts focused on process, not behavior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Change management was limited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Stakeholder experience not always central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Alignment on urgency has varied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914400"/>
            <a:ext cx="2743200" cy="320040"/>
          </a:xfrm>
          <a:prstGeom prst="rect">
            <a:avLst/>
          </a:prstGeom>
          <a:solidFill>
            <a:srgbClr val="2E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External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3258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Faster-moving competitors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New digital and AI channels emerging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Changing content consumption patterns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Rising expectations for responsiveness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57600"/>
            <a:ext cx="11430000" cy="7772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307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Segoe UI"/>
              </a:rPr>
              <a:t>KEY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502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Segoe UI"/>
              </a:rPr>
              <a:t>This is not just a workflow problem. It is a system-level challenge spanning structure, culture, and adoption.</a:t>
            </a:r>
          </a:p>
          <a:p>
            <a:r>
              <a:rPr sz="1100" b="0">
                <a:solidFill>
                  <a:srgbClr val="666666"/>
                </a:solidFill>
                <a:latin typeface="Segoe UI"/>
              </a:rPr>
              <a:t>Sustainable improvement requires coordinated redesign across all four dimensions.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293"/>
                </a:solidFill>
                <a:latin typeface="Segoe UI"/>
              </a:rPr>
              <a:t>Project Plan: MarComms Operating Model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Segoe UI"/>
              </a:rPr>
              <a:t>This work starts with understanding why prior attempts stalled — not with process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743200" cy="54864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Deepen Problem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5293"/>
                </a:solidFill>
                <a:latin typeface="Segoe UI"/>
              </a:rPr>
              <a:t>Weeks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Discovery sessions with key stakeholders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Review past improvement efforts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Identify true bottlenecks vs. symptoms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Segment work types by risk and 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743200" cy="5486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005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161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Prioritize What to Reimagine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96C7"/>
                </a:solidFill>
                <a:latin typeface="Segoe UI"/>
              </a:rPr>
              <a:t>Weeks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288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Identify priority areas by impact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Decide what to redesign now vs. later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Align on design principles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Define what "good enough" means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74320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05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2161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Reimagine Operating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6B35"/>
                </a:solidFill>
                <a:latin typeface="Segoe UI"/>
              </a:rPr>
              <a:t>Weeks 7–11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Redesign priority workflows end-to-end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Clarify ownership and decision rights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Build differentiation into the system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Simplify handoffs and approvals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960120"/>
            <a:ext cx="2743200" cy="548640"/>
          </a:xfrm>
          <a:prstGeom prst="rect">
            <a:avLst/>
          </a:prstGeom>
          <a:solidFill>
            <a:srgbClr val="2E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005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2161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Change &amp; 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554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EB85C"/>
                </a:solidFill>
                <a:latin typeface="Segoe UI"/>
              </a:rPr>
              <a:t>Weeks 5–12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8288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Stakeholder engagement throughout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Leadership alignment on behaviors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Communication and enablement plan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Segoe UI"/>
              </a:rPr>
              <a:t>• Define success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20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5293"/>
                </a:solidFill>
                <a:latin typeface="Segoe UI"/>
              </a:rPr>
              <a:t>GUIDING PRINCIPLES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840480"/>
            <a:ext cx="265176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044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293"/>
                </a:solidFill>
                <a:latin typeface="Segoe UI"/>
              </a:rPr>
              <a:t>Redesign before optimize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840480"/>
            <a:ext cx="265176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9044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293"/>
                </a:solidFill>
                <a:latin typeface="Segoe UI"/>
              </a:rPr>
              <a:t>Focus on impact, not volume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840480"/>
            <a:ext cx="265176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9044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293"/>
                </a:solidFill>
                <a:latin typeface="Segoe UI"/>
              </a:rPr>
              <a:t>Differentiate by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840480"/>
            <a:ext cx="2651760" cy="3657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90448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5293"/>
                </a:solidFill>
                <a:latin typeface="Segoe UI"/>
              </a:rPr>
              <a:t>Build for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293"/>
                </a:solidFill>
                <a:latin typeface="Segoe UI"/>
              </a:rPr>
              <a:t>Timeline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onsolas"/>
              </a:rPr>
              <a:t>Week 1        2        3        4        5        6        7        8        9        10       11    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5293"/>
                </a:solidFill>
                <a:latin typeface="Segoe UI"/>
              </a:rPr>
              <a:t>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554480"/>
            <a:ext cx="3108960" cy="45720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66420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Deep Problem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C7"/>
                </a:solidFill>
                <a:latin typeface="Segoe UI"/>
              </a:rPr>
              <a:t>Phase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48840"/>
            <a:ext cx="1554480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2585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Prioritization &amp;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6B35"/>
                </a:solidFill>
                <a:latin typeface="Segoe UI"/>
              </a:rPr>
              <a:t>Phase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38862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52928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Operating Model Redesign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290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B85C"/>
                </a:solidFill>
                <a:latin typeface="Segoe UI"/>
              </a:rPr>
              <a:t>Phase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337560"/>
            <a:ext cx="6217920" cy="457200"/>
          </a:xfrm>
          <a:prstGeom prst="roundRect">
            <a:avLst/>
          </a:prstGeom>
          <a:solidFill>
            <a:srgbClr val="2E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447288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Change Management &amp;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1188720" cy="320040"/>
          </a:xfrm>
          <a:prstGeom prst="rect">
            <a:avLst/>
          </a:prstGeom>
          <a:solidFill>
            <a:srgbClr val="00529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54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Phase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108960"/>
            <a:ext cx="3657600" cy="320040"/>
          </a:xfrm>
          <a:prstGeom prst="rect">
            <a:avLst/>
          </a:prstGeom>
          <a:solidFill>
            <a:srgbClr val="00529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3154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3108960"/>
            <a:ext cx="1371600" cy="320040"/>
          </a:xfrm>
          <a:prstGeom prst="rect">
            <a:avLst/>
          </a:prstGeom>
          <a:solidFill>
            <a:srgbClr val="00529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154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Timing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108960"/>
            <a:ext cx="5029200" cy="320040"/>
          </a:xfrm>
          <a:prstGeom prst="rect">
            <a:avLst/>
          </a:prstGeom>
          <a:solidFill>
            <a:srgbClr val="00529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1546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Segoe UI"/>
              </a:rPr>
              <a:t>Key Outputs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118872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293"/>
                </a:solidFill>
                <a:latin typeface="Segoe U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429000"/>
            <a:ext cx="36576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502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Deep problem discovery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3429000"/>
            <a:ext cx="13716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3502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Weeks 1–4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429000"/>
            <a:ext cx="50292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502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Root cause analysis, evidence-based problem statement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679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96C7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37947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3867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Prioritization &amp; focus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379476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3867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Weeks 5–6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867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Prioritized scope, executive alignment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118872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336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6B35"/>
                </a:solidFill>
                <a:latin typeface="Segoe U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160520"/>
            <a:ext cx="36576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2336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Operating model redesign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4160520"/>
            <a:ext cx="13716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42336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Weeks 7–11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4160520"/>
            <a:ext cx="5029200" cy="3657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233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Future-state model, simplified workflows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2628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599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B85C"/>
                </a:solidFill>
                <a:latin typeface="Segoe UI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54480" y="452628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0" y="4599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Change &amp; adoption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52628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4599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Weeks 5–12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452628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4599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3333"/>
                </a:solidFill>
                <a:latin typeface="Segoe UI"/>
              </a:rPr>
              <a:t>Change strategy, adoption roadmap, success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