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502920"/>
          </a:xfrm>
          <a:prstGeom prst="rect">
            <a:avLst/>
          </a:prstGeom>
          <a:noFill/>
        </p:spPr>
        <p:txBody>
          <a:bodyPr wrap="square">
            <a:spAutoFit/>
          </a:bodyPr>
          <a:lstStyle/>
          <a:p>
            <a:pPr algn="l"/>
            <a:r>
              <a:rPr sz="2800" b="1">
                <a:solidFill>
                  <a:srgbClr val="1A1A2E"/>
                </a:solidFill>
                <a:latin typeface="Segoe UI Semibold"/>
              </a:rPr>
              <a:t>2026 Financials by ACT Pod</a:t>
            </a:r>
          </a:p>
        </p:txBody>
      </p:sp>
      <p:sp>
        <p:nvSpPr>
          <p:cNvPr id="4" name="Rectangle 3"/>
          <p:cNvSpPr/>
          <p:nvPr/>
        </p:nvSpPr>
        <p:spPr>
          <a:xfrm>
            <a:off x="731520" y="960120"/>
            <a:ext cx="201168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5486400" cy="320040"/>
          </a:xfrm>
          <a:prstGeom prst="rect">
            <a:avLst/>
          </a:prstGeom>
          <a:noFill/>
        </p:spPr>
        <p:txBody>
          <a:bodyPr wrap="square">
            <a:spAutoFit/>
          </a:bodyPr>
          <a:lstStyle/>
          <a:p>
            <a:pPr algn="l"/>
            <a:r>
              <a:rPr sz="1100" b="0">
                <a:solidFill>
                  <a:srgbClr val="9B9BA3"/>
                </a:solidFill>
                <a:latin typeface="Segoe UI"/>
              </a:rPr>
              <a:t>Revenue &amp; Growth Planning  |  US/GCSO Division</a:t>
            </a:r>
          </a:p>
        </p:txBody>
      </p:sp>
      <p:graphicFrame>
        <p:nvGraphicFramePr>
          <p:cNvPr id="6" name="Table 5"/>
          <p:cNvGraphicFramePr>
            <a:graphicFrameLocks noGrp="1"/>
          </p:cNvGraphicFramePr>
          <p:nvPr/>
        </p:nvGraphicFramePr>
        <p:xfrm>
          <a:off x="731520" y="1645920"/>
          <a:ext cx="6400800" cy="4356768"/>
        </p:xfrm>
        <a:graphic>
          <a:graphicData uri="http://schemas.openxmlformats.org/drawingml/2006/table">
            <a:tbl>
              <a:tblPr firstRow="1" bandRow="1">
                <a:tableStyleId>{5C22544A-7EE6-4342-B048-85BDC9FD1C3A}</a:tableStyleId>
              </a:tblPr>
              <a:tblGrid>
                <a:gridCol w="2377440"/>
                <a:gridCol w="1371600"/>
                <a:gridCol w="1371600"/>
                <a:gridCol w="1280160"/>
              </a:tblGrid>
              <a:tr h="384048">
                <a:tc>
                  <a:txBody>
                    <a:bodyPr/>
                    <a:lstStyle/>
                    <a:p>
                      <a:pPr algn="ctr"/>
                      <a:r>
                        <a:rPr sz="1000" b="1">
                          <a:solidFill>
                            <a:srgbClr val="FFFFFF"/>
                          </a:solidFill>
                          <a:latin typeface="Segoe UI Semibold"/>
                        </a:rPr>
                        <a:t>$ MM</a:t>
                      </a:r>
                    </a:p>
                  </a:txBody>
                  <a:tcPr anchor="ctr" marL="101600" marR="101600" marT="50800" marB="50800">
                    <a:solidFill>
                      <a:srgbClr val="1E1E2E"/>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FFFFFF"/>
                          </a:solidFill>
                          <a:latin typeface="Segoe UI Semibold"/>
                        </a:rPr>
                        <a:t>2025 Revenue</a:t>
                      </a:r>
                    </a:p>
                  </a:txBody>
                  <a:tcPr anchor="ctr" marL="101600" marR="101600" marT="50800" marB="50800">
                    <a:solidFill>
                      <a:srgbClr val="1E1E2E"/>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FFFFFF"/>
                          </a:solidFill>
                          <a:latin typeface="Segoe UI Semibold"/>
                        </a:rPr>
                        <a:t>2026 Plan</a:t>
                      </a:r>
                    </a:p>
                  </a:txBody>
                  <a:tcPr anchor="ctr" marL="101600" marR="101600" marT="50800" marB="50800">
                    <a:solidFill>
                      <a:srgbClr val="1E1E2E"/>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FFFFFF"/>
                          </a:solidFill>
                          <a:latin typeface="Segoe UI Semibold"/>
                        </a:rPr>
                        <a:t>Planned Growth</a:t>
                      </a:r>
                    </a:p>
                  </a:txBody>
                  <a:tcPr anchor="ctr" marL="101600" marR="101600" marT="50800" marB="50800">
                    <a:solidFill>
                      <a:srgbClr val="1E1E2E"/>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US/GCSO_HCP</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$23.5</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US/GCSO_B2B</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$10.8</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US/GCSO_Patient</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$7.1</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US/GCSO_Medical</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$3.4</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US/GCSO_Field_GTM_SFE</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$14.0</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US/GCSO_Financial_Planning</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$7.5</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US/GCSO_Brand/BU_Advisory</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$8.0</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US/GCSO_Customer_Insights</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$3.9</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US/GCSO_Scaled_Analytics</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$14.5</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0">
                          <a:solidFill>
                            <a:srgbClr val="4A4A55"/>
                          </a:solidFill>
                          <a:latin typeface="Segoe UI"/>
                        </a:rPr>
                        <a:t>US/GCSO_Data_Digital/AI</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$5.4</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0">
                          <a:solidFill>
                            <a:srgbClr val="4A4A55"/>
                          </a:solidFill>
                          <a:latin typeface="Segoe UI"/>
                        </a:rPr>
                        <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29184">
                <a:tc>
                  <a:txBody>
                    <a:bodyPr/>
                    <a:lstStyle/>
                    <a:p>
                      <a:pPr algn="l"/>
                      <a:r>
                        <a:rPr sz="1000" b="1">
                          <a:solidFill>
                            <a:srgbClr val="1A1A2E"/>
                          </a:solidFill>
                          <a:latin typeface="Segoe UI"/>
                        </a:rPr>
                        <a:t>US/GSCO Total</a:t>
                      </a:r>
                    </a:p>
                  </a:txBody>
                  <a:tcPr anchor="ctr" marL="101600" marR="101600" marT="50800" marB="50800">
                    <a:solidFill>
                      <a:srgbClr val="E0E7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1A1A2E"/>
                          </a:solidFill>
                          <a:latin typeface="Segoe UI"/>
                        </a:rPr>
                        <a:t>$98.0</a:t>
                      </a:r>
                    </a:p>
                  </a:txBody>
                  <a:tcPr anchor="ctr" marL="101600" marR="101600" marT="50800" marB="50800">
                    <a:solidFill>
                      <a:srgbClr val="E0E7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1A1A2E"/>
                          </a:solidFill>
                          <a:latin typeface="Segoe UI"/>
                        </a:rPr>
                        <a:t>$101.0</a:t>
                      </a:r>
                    </a:p>
                  </a:txBody>
                  <a:tcPr anchor="ctr" marL="101600" marR="101600" marT="50800" marB="50800">
                    <a:solidFill>
                      <a:srgbClr val="E0E7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ctr"/>
                      <a:r>
                        <a:rPr sz="1000" b="1">
                          <a:solidFill>
                            <a:srgbClr val="1A1A2E"/>
                          </a:solidFill>
                          <a:latin typeface="Segoe UI"/>
                        </a:rPr>
                        <a:t/>
                      </a:r>
                    </a:p>
                  </a:txBody>
                  <a:tcPr anchor="ctr" marL="101600" marR="101600" marT="50800" marB="50800">
                    <a:solidFill>
                      <a:srgbClr val="E0E7FF"/>
                    </a:solidFill>
                    <a:lnL w="6350">
                      <a:solidFill>
                        <a:srgbClr val="E2E8F0"/>
                      </a:solidFill>
                    </a:lnL>
                    <a:lnR w="6350">
                      <a:solidFill>
                        <a:srgbClr val="E2E8F0"/>
                      </a:solidFill>
                    </a:lnR>
                    <a:lnT w="6350">
                      <a:solidFill>
                        <a:srgbClr val="E2E8F0"/>
                      </a:solidFill>
                    </a:lnT>
                    <a:lnB w="6350">
                      <a:solidFill>
                        <a:srgbClr val="E2E8F0"/>
                      </a:solidFill>
                    </a:lnB>
                  </a:tcPr>
                </a:tc>
              </a:tr>
              <a:tr h="351696">
                <a:tc>
                  <a:txBody>
                    <a:bodyPr/>
                    <a:lstStyle/>
                    <a:p/>
                  </a:txBody>
                  <a:tcPr>
                    <a:lnL w="6350">
                      <a:solidFill>
                        <a:srgbClr val="E2E8F0"/>
                      </a:solidFill>
                    </a:lnL>
                    <a:lnR w="6350">
                      <a:solidFill>
                        <a:srgbClr val="E2E8F0"/>
                      </a:solidFill>
                    </a:lnR>
                    <a:lnT w="6350">
                      <a:solidFill>
                        <a:srgbClr val="E2E8F0"/>
                      </a:solidFill>
                    </a:lnT>
                    <a:lnB w="6350">
                      <a:solidFill>
                        <a:srgbClr val="E2E8F0"/>
                      </a:solidFill>
                    </a:lnB>
                  </a:tcPr>
                </a:tc>
                <a:tc>
                  <a:txBody>
                    <a:bodyPr/>
                    <a:lstStyle/>
                    <a:p/>
                  </a:txBody>
                  <a:tcPr>
                    <a:lnL w="6350">
                      <a:solidFill>
                        <a:srgbClr val="E2E8F0"/>
                      </a:solidFill>
                    </a:lnL>
                    <a:lnR w="6350">
                      <a:solidFill>
                        <a:srgbClr val="E2E8F0"/>
                      </a:solidFill>
                    </a:lnR>
                    <a:lnT w="6350">
                      <a:solidFill>
                        <a:srgbClr val="E2E8F0"/>
                      </a:solidFill>
                    </a:lnT>
                    <a:lnB w="6350">
                      <a:solidFill>
                        <a:srgbClr val="E2E8F0"/>
                      </a:solidFill>
                    </a:lnB>
                  </a:tcPr>
                </a:tc>
                <a:tc>
                  <a:txBody>
                    <a:bodyPr/>
                    <a:lstStyle/>
                    <a:p/>
                  </a:txBody>
                  <a:tcPr>
                    <a:lnL w="6350">
                      <a:solidFill>
                        <a:srgbClr val="E2E8F0"/>
                      </a:solidFill>
                    </a:lnL>
                    <a:lnR w="6350">
                      <a:solidFill>
                        <a:srgbClr val="E2E8F0"/>
                      </a:solidFill>
                    </a:lnR>
                    <a:lnT w="6350">
                      <a:solidFill>
                        <a:srgbClr val="E2E8F0"/>
                      </a:solidFill>
                    </a:lnT>
                    <a:lnB w="6350">
                      <a:solidFill>
                        <a:srgbClr val="E2E8F0"/>
                      </a:solidFill>
                    </a:lnB>
                  </a:tcPr>
                </a:tc>
                <a:tc>
                  <a:txBody>
                    <a:bodyPr/>
                    <a:lstStyle/>
                    <a:p/>
                  </a:txBody>
                  <a:tcPr>
                    <a:lnL w="6350">
                      <a:solidFill>
                        <a:srgbClr val="E2E8F0"/>
                      </a:solidFill>
                    </a:lnL>
                    <a:lnR w="6350">
                      <a:solidFill>
                        <a:srgbClr val="E2E8F0"/>
                      </a:solidFill>
                    </a:lnR>
                    <a:lnT w="6350">
                      <a:solidFill>
                        <a:srgbClr val="E2E8F0"/>
                      </a:solidFill>
                    </a:lnT>
                    <a:lnB w="6350">
                      <a:solidFill>
                        <a:srgbClr val="E2E8F0"/>
                      </a:solidFill>
                    </a:lnB>
                  </a:tcPr>
                </a:tc>
              </a:tr>
            </a:tbl>
          </a:graphicData>
        </a:graphic>
      </p:graphicFrame>
      <p:sp>
        <p:nvSpPr>
          <p:cNvPr id="7" name="Rounded Rectangle 6"/>
          <p:cNvSpPr/>
          <p:nvPr/>
        </p:nvSpPr>
        <p:spPr>
          <a:xfrm>
            <a:off x="7589520" y="1645920"/>
            <a:ext cx="4023360" cy="4572000"/>
          </a:xfrm>
          <a:prstGeom prst="roundRect">
            <a:avLst/>
          </a:prstGeom>
          <a:solidFill>
            <a:srgbClr val="F7F7FA"/>
          </a:solidFill>
          <a:ln w="12700">
            <a:solidFill>
              <a:srgbClr val="E8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1645920"/>
            <a:ext cx="50800" cy="45720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828800"/>
            <a:ext cx="3566160" cy="365760"/>
          </a:xfrm>
          <a:prstGeom prst="rect">
            <a:avLst/>
          </a:prstGeom>
          <a:noFill/>
        </p:spPr>
        <p:txBody>
          <a:bodyPr wrap="square">
            <a:spAutoFit/>
          </a:bodyPr>
          <a:lstStyle/>
          <a:p>
            <a:pPr algn="l"/>
            <a:r>
              <a:rPr sz="1400" b="1">
                <a:solidFill>
                  <a:srgbClr val="1A1A2E"/>
                </a:solidFill>
                <a:latin typeface="Segoe UI Semibold"/>
              </a:rPr>
              <a:t>Pod-Level Reporting</a:t>
            </a:r>
          </a:p>
        </p:txBody>
      </p:sp>
      <p:sp>
        <p:nvSpPr>
          <p:cNvPr id="10" name="Rectangle 9"/>
          <p:cNvSpPr/>
          <p:nvPr/>
        </p:nvSpPr>
        <p:spPr>
          <a:xfrm>
            <a:off x="7863840" y="2194560"/>
            <a:ext cx="1280160" cy="254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331720"/>
            <a:ext cx="3566160" cy="594360"/>
          </a:xfrm>
          <a:prstGeom prst="rect">
            <a:avLst/>
          </a:prstGeom>
          <a:noFill/>
        </p:spPr>
        <p:txBody>
          <a:bodyPr wrap="square">
            <a:spAutoFit/>
          </a:bodyPr>
          <a:lstStyle/>
          <a:p>
            <a:pPr algn="l"/>
            <a:r>
              <a:rPr sz="950" b="0">
                <a:solidFill>
                  <a:srgbClr val="4A4A55"/>
                </a:solidFill>
                <a:latin typeface="Segoe UI"/>
              </a:rPr>
              <a:t>ACT Pod leaders will receive Pod level P&amp;L and BD report throughout the year sent via email by FBPs covering:</a:t>
            </a:r>
          </a:p>
        </p:txBody>
      </p:sp>
      <p:sp>
        <p:nvSpPr>
          <p:cNvPr id="12" name="TextBox 11"/>
          <p:cNvSpPr txBox="1"/>
          <p:nvPr/>
        </p:nvSpPr>
        <p:spPr>
          <a:xfrm>
            <a:off x="7863840" y="3017520"/>
            <a:ext cx="3566160" cy="274320"/>
          </a:xfrm>
          <a:prstGeom prst="rect">
            <a:avLst/>
          </a:prstGeom>
          <a:noFill/>
        </p:spPr>
        <p:txBody>
          <a:bodyPr wrap="square">
            <a:spAutoFit/>
          </a:bodyPr>
          <a:lstStyle/>
          <a:p>
            <a:pPr algn="l"/>
            <a:r>
              <a:rPr sz="950">
                <a:solidFill>
                  <a:srgbClr val="4A4A55"/>
                </a:solidFill>
                <a:latin typeface="Segoe UI"/>
              </a:rPr>
              <a:t>•  YTD Actuals compared to Plan</a:t>
            </a:r>
          </a:p>
        </p:txBody>
      </p:sp>
      <p:sp>
        <p:nvSpPr>
          <p:cNvPr id="13" name="TextBox 12"/>
          <p:cNvSpPr txBox="1"/>
          <p:nvPr/>
        </p:nvSpPr>
        <p:spPr>
          <a:xfrm>
            <a:off x="7863840" y="3273552"/>
            <a:ext cx="3566160" cy="274320"/>
          </a:xfrm>
          <a:prstGeom prst="rect">
            <a:avLst/>
          </a:prstGeom>
          <a:noFill/>
        </p:spPr>
        <p:txBody>
          <a:bodyPr wrap="square">
            <a:spAutoFit/>
          </a:bodyPr>
          <a:lstStyle/>
          <a:p>
            <a:pPr algn="l"/>
            <a:r>
              <a:rPr sz="950">
                <a:solidFill>
                  <a:srgbClr val="4A4A55"/>
                </a:solidFill>
                <a:latin typeface="Segoe UI"/>
              </a:rPr>
              <a:t>•  At-Risk Projects</a:t>
            </a:r>
          </a:p>
        </p:txBody>
      </p:sp>
      <p:sp>
        <p:nvSpPr>
          <p:cNvPr id="14" name="TextBox 13"/>
          <p:cNvSpPr txBox="1"/>
          <p:nvPr/>
        </p:nvSpPr>
        <p:spPr>
          <a:xfrm>
            <a:off x="7863840" y="3529584"/>
            <a:ext cx="3566160" cy="274320"/>
          </a:xfrm>
          <a:prstGeom prst="rect">
            <a:avLst/>
          </a:prstGeom>
          <a:noFill/>
        </p:spPr>
        <p:txBody>
          <a:bodyPr wrap="square">
            <a:spAutoFit/>
          </a:bodyPr>
          <a:lstStyle/>
          <a:p>
            <a:pPr algn="l"/>
            <a:r>
              <a:rPr sz="950">
                <a:solidFill>
                  <a:srgbClr val="4A4A55"/>
                </a:solidFill>
                <a:latin typeface="Segoe UI"/>
              </a:rPr>
              <a:t>•  YTD Committed Spend</a:t>
            </a:r>
          </a:p>
        </p:txBody>
      </p:sp>
      <p:sp>
        <p:nvSpPr>
          <p:cNvPr id="15" name="TextBox 14"/>
          <p:cNvSpPr txBox="1"/>
          <p:nvPr/>
        </p:nvSpPr>
        <p:spPr>
          <a:xfrm>
            <a:off x="7863840" y="3785616"/>
            <a:ext cx="3566160" cy="274320"/>
          </a:xfrm>
          <a:prstGeom prst="rect">
            <a:avLst/>
          </a:prstGeom>
          <a:noFill/>
        </p:spPr>
        <p:txBody>
          <a:bodyPr wrap="square">
            <a:spAutoFit/>
          </a:bodyPr>
          <a:lstStyle/>
          <a:p>
            <a:pPr algn="l"/>
            <a:r>
              <a:rPr sz="950">
                <a:solidFill>
                  <a:srgbClr val="4A4A55"/>
                </a:solidFill>
                <a:latin typeface="Segoe UI"/>
              </a:rPr>
              <a:t>•  BD Analysis + Cost Breakdown</a:t>
            </a:r>
          </a:p>
        </p:txBody>
      </p:sp>
      <p:sp>
        <p:nvSpPr>
          <p:cNvPr id="16" name="TextBox 15"/>
          <p:cNvSpPr txBox="1"/>
          <p:nvPr/>
        </p:nvSpPr>
        <p:spPr>
          <a:xfrm>
            <a:off x="7863840" y="4041648"/>
            <a:ext cx="3566160" cy="274320"/>
          </a:xfrm>
          <a:prstGeom prst="rect">
            <a:avLst/>
          </a:prstGeom>
          <a:noFill/>
        </p:spPr>
        <p:txBody>
          <a:bodyPr wrap="square">
            <a:spAutoFit/>
          </a:bodyPr>
          <a:lstStyle/>
          <a:p>
            <a:pPr algn="l"/>
            <a:r>
              <a:rPr sz="950">
                <a:solidFill>
                  <a:srgbClr val="4A4A55"/>
                </a:solidFill>
                <a:latin typeface="Segoe UI"/>
              </a:rPr>
              <a:t>•  Work Type Portfolio mix by delivery margin</a:t>
            </a:r>
          </a:p>
        </p:txBody>
      </p:sp>
      <p:sp>
        <p:nvSpPr>
          <p:cNvPr id="17" name="TextBox 16"/>
          <p:cNvSpPr txBox="1"/>
          <p:nvPr/>
        </p:nvSpPr>
        <p:spPr>
          <a:xfrm>
            <a:off x="7863840" y="4434840"/>
            <a:ext cx="3566160" cy="320040"/>
          </a:xfrm>
          <a:prstGeom prst="rect">
            <a:avLst/>
          </a:prstGeom>
          <a:noFill/>
        </p:spPr>
        <p:txBody>
          <a:bodyPr wrap="square">
            <a:spAutoFit/>
          </a:bodyPr>
          <a:lstStyle/>
          <a:p>
            <a:pPr algn="l"/>
            <a:r>
              <a:rPr sz="1200" b="1">
                <a:solidFill>
                  <a:srgbClr val="1A1A2E"/>
                </a:solidFill>
                <a:latin typeface="Segoe UI Semibold"/>
              </a:rPr>
              <a:t>ACT POD Leader Expectations</a:t>
            </a:r>
          </a:p>
        </p:txBody>
      </p:sp>
      <p:sp>
        <p:nvSpPr>
          <p:cNvPr id="18" name="Rectangle 17"/>
          <p:cNvSpPr/>
          <p:nvPr/>
        </p:nvSpPr>
        <p:spPr>
          <a:xfrm>
            <a:off x="7863840" y="4754880"/>
            <a:ext cx="1097280" cy="254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4892040"/>
            <a:ext cx="3566160" cy="548640"/>
          </a:xfrm>
          <a:prstGeom prst="rect">
            <a:avLst/>
          </a:prstGeom>
          <a:noFill/>
        </p:spPr>
        <p:txBody>
          <a:bodyPr wrap="square">
            <a:spAutoFit/>
          </a:bodyPr>
          <a:lstStyle/>
          <a:p>
            <a:pPr algn="l"/>
            <a:r>
              <a:rPr sz="950" b="0">
                <a:solidFill>
                  <a:srgbClr val="4A4A55"/>
                </a:solidFill>
                <a:latin typeface="Segoe UI"/>
              </a:rPr>
              <a:t>Produce a one-page quarterly objectives report with defined targets and ongoing status updates.</a:t>
            </a:r>
          </a:p>
        </p:txBody>
      </p:sp>
      <p:sp>
        <p:nvSpPr>
          <p:cNvPr id="20" name="TextBox 19"/>
          <p:cNvSpPr txBox="1"/>
          <p:nvPr/>
        </p:nvSpPr>
        <p:spPr>
          <a:xfrm>
            <a:off x="731520" y="6309360"/>
            <a:ext cx="6400800" cy="320040"/>
          </a:xfrm>
          <a:prstGeom prst="rect">
            <a:avLst/>
          </a:prstGeom>
          <a:noFill/>
        </p:spPr>
        <p:txBody>
          <a:bodyPr wrap="square">
            <a:spAutoFit/>
          </a:bodyPr>
          <a:lstStyle/>
          <a:p>
            <a:pPr algn="l"/>
            <a:r>
              <a:rPr sz="900" b="0">
                <a:solidFill>
                  <a:srgbClr val="9B9BA3"/>
                </a:solidFill>
                <a:latin typeface="Segoe UI"/>
              </a:rPr>
              <a:t>Please share 2026 revenue and growth plan with Emma</a:t>
            </a:r>
          </a:p>
        </p:txBody>
      </p:sp>
      <p:sp>
        <p:nvSpPr>
          <p:cNvPr id="21" name="TextBox 20"/>
          <p:cNvSpPr txBox="1"/>
          <p:nvPr/>
        </p:nvSpPr>
        <p:spPr>
          <a:xfrm>
            <a:off x="10515600" y="6400800"/>
            <a:ext cx="1371600" cy="274320"/>
          </a:xfrm>
          <a:prstGeom prst="rect">
            <a:avLst/>
          </a:prstGeom>
          <a:noFill/>
        </p:spPr>
        <p:txBody>
          <a:bodyPr wrap="square">
            <a:spAutoFit/>
          </a:bodyPr>
          <a:lstStyle/>
          <a:p>
            <a:pPr algn="r"/>
            <a:r>
              <a:rPr sz="900" b="0">
                <a:solidFill>
                  <a:srgbClr val="9B9BA3"/>
                </a:solidFill>
                <a:latin typeface="Segoe UI"/>
              </a:rPr>
              <a:t>7</a:t>
            </a:r>
          </a:p>
        </p:txBody>
      </p:sp>
      <p:sp>
        <p:nvSpPr>
          <p:cNvPr id="22" name="Rounded Rectangle 21"/>
          <p:cNvSpPr/>
          <p:nvPr/>
        </p:nvSpPr>
        <p:spPr>
          <a:xfrm>
            <a:off x="10058400" y="6263640"/>
            <a:ext cx="1463040" cy="274320"/>
          </a:xfrm>
          <a:prstGeom prst="roundRect">
            <a:avLst/>
          </a:prstGeom>
          <a:solidFill>
            <a:srgbClr val="F7F7FA"/>
          </a:solidFill>
          <a:ln w="6350">
            <a:solidFill>
              <a:srgbClr val="E8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6281928"/>
            <a:ext cx="1463040" cy="256032"/>
          </a:xfrm>
          <a:prstGeom prst="rect">
            <a:avLst/>
          </a:prstGeom>
          <a:noFill/>
        </p:spPr>
        <p:txBody>
          <a:bodyPr wrap="square">
            <a:spAutoFit/>
          </a:bodyPr>
          <a:lstStyle/>
          <a:p>
            <a:pPr algn="ctr"/>
            <a:r>
              <a:rPr sz="800" b="0">
                <a:solidFill>
                  <a:srgbClr val="9B9BA3"/>
                </a:solidFill>
                <a:latin typeface="Segoe UI"/>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502920"/>
          </a:xfrm>
          <a:prstGeom prst="rect">
            <a:avLst/>
          </a:prstGeom>
          <a:noFill/>
        </p:spPr>
        <p:txBody>
          <a:bodyPr wrap="square">
            <a:spAutoFit/>
          </a:bodyPr>
          <a:lstStyle/>
          <a:p>
            <a:pPr algn="l"/>
            <a:r>
              <a:rPr sz="2800" b="1">
                <a:solidFill>
                  <a:srgbClr val="1A1A2E"/>
                </a:solidFill>
                <a:latin typeface="Segoe UI Semibold"/>
              </a:rPr>
              <a:t>Frosty the Snow Man</a:t>
            </a:r>
          </a:p>
        </p:txBody>
      </p:sp>
      <p:sp>
        <p:nvSpPr>
          <p:cNvPr id="4" name="Rectangle 3"/>
          <p:cNvSpPr/>
          <p:nvPr/>
        </p:nvSpPr>
        <p:spPr>
          <a:xfrm>
            <a:off x="731520" y="960120"/>
            <a:ext cx="2011680" cy="381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7315200" cy="320040"/>
          </a:xfrm>
          <a:prstGeom prst="rect">
            <a:avLst/>
          </a:prstGeom>
          <a:noFill/>
        </p:spPr>
        <p:txBody>
          <a:bodyPr wrap="square">
            <a:spAutoFit/>
          </a:bodyPr>
          <a:lstStyle/>
          <a:p>
            <a:pPr algn="l"/>
            <a:r>
              <a:rPr sz="1100" b="0">
                <a:solidFill>
                  <a:srgbClr val="9B9BA3"/>
                </a:solidFill>
                <a:latin typeface="Segoe UI"/>
              </a:rPr>
              <a:t>Words and Music by Steve Nelson and Jack Rollins  |  Arr. by Tom Gerou</a:t>
            </a:r>
          </a:p>
        </p:txBody>
      </p:sp>
      <p:sp>
        <p:nvSpPr>
          <p:cNvPr id="6" name="Rounded Rectangle 5"/>
          <p:cNvSpPr/>
          <p:nvPr/>
        </p:nvSpPr>
        <p:spPr>
          <a:xfrm>
            <a:off x="731520" y="1691640"/>
            <a:ext cx="5303520" cy="4572000"/>
          </a:xfrm>
          <a:prstGeom prst="roundRect">
            <a:avLst/>
          </a:prstGeom>
          <a:solidFill>
            <a:srgbClr val="F7F7FA"/>
          </a:solidFill>
          <a:ln w="12700">
            <a:solidFill>
              <a:srgbClr val="E8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0800" cy="45720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4754880" cy="320040"/>
          </a:xfrm>
          <a:prstGeom prst="rect">
            <a:avLst/>
          </a:prstGeom>
          <a:noFill/>
        </p:spPr>
        <p:txBody>
          <a:bodyPr wrap="square">
            <a:spAutoFit/>
          </a:bodyPr>
          <a:lstStyle/>
          <a:p>
            <a:pPr algn="l"/>
            <a:r>
              <a:rPr sz="1400" b="1">
                <a:solidFill>
                  <a:srgbClr val="1A1A2E"/>
                </a:solidFill>
                <a:latin typeface="Segoe UI Semibold"/>
              </a:rPr>
              <a:t>Song Overview</a:t>
            </a:r>
          </a:p>
        </p:txBody>
      </p:sp>
      <p:sp>
        <p:nvSpPr>
          <p:cNvPr id="9" name="Rectangle 8"/>
          <p:cNvSpPr/>
          <p:nvPr/>
        </p:nvSpPr>
        <p:spPr>
          <a:xfrm>
            <a:off x="1005840" y="2176272"/>
            <a:ext cx="1097280" cy="254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005840" y="2377440"/>
          <a:ext cx="4754880" cy="2432304"/>
        </p:xfrm>
        <a:graphic>
          <a:graphicData uri="http://schemas.openxmlformats.org/drawingml/2006/table">
            <a:tbl>
              <a:tblPr firstRow="1" bandRow="1">
                <a:tableStyleId>{5C22544A-7EE6-4342-B048-85BDC9FD1C3A}</a:tableStyleId>
              </a:tblPr>
              <a:tblGrid>
                <a:gridCol w="1645920"/>
                <a:gridCol w="3108960"/>
              </a:tblGrid>
              <a:tr h="347472">
                <a:tc>
                  <a:txBody>
                    <a:bodyPr/>
                    <a:lstStyle/>
                    <a:p>
                      <a:pPr algn="l"/>
                      <a:r>
                        <a:rPr sz="1000" b="1">
                          <a:solidFill>
                            <a:srgbClr val="1A1A2E"/>
                          </a:solidFill>
                          <a:latin typeface="Segoe UI Semibold"/>
                        </a:rPr>
                        <a:t>Tempo</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Allegro</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Key</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C Major</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Time Signature</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4/4 (Common Time)</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Measures</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40 measures</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Difficulty</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Early Intermediate Piano</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Copyright</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 1950 by Chappell &amp; Co., Copyright Renewed</a:t>
                      </a:r>
                    </a:p>
                  </a:txBody>
                  <a:tcPr anchor="ctr" marL="101600" marR="101600" marT="50800" marB="50800">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47472">
                <a:tc>
                  <a:txBody>
                    <a:bodyPr/>
                    <a:lstStyle/>
                    <a:p>
                      <a:pPr algn="l"/>
                      <a:r>
                        <a:rPr sz="1000" b="1">
                          <a:solidFill>
                            <a:srgbClr val="1A1A2E"/>
                          </a:solidFill>
                          <a:latin typeface="Segoe UI Semibold"/>
                        </a:rPr>
                        <a:t>Features</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c>
                  <a:txBody>
                    <a:bodyPr/>
                    <a:lstStyle/>
                    <a:p>
                      <a:pPr algn="l"/>
                      <a:r>
                        <a:rPr sz="1000" b="0">
                          <a:solidFill>
                            <a:srgbClr val="4A4A55"/>
                          </a:solidFill>
                          <a:latin typeface="Segoe UI"/>
                        </a:rPr>
                        <a:t>Both hands reading, finger numbering, dynamic markings (mp)</a:t>
                      </a:r>
                    </a:p>
                  </a:txBody>
                  <a:tcPr anchor="ctr" marL="101600" marR="101600" marT="50800" marB="50800">
                    <a:solidFill>
                      <a:srgbClr val="F1F5F9"/>
                    </a:solidFill>
                    <a:lnL w="6350">
                      <a:solidFill>
                        <a:srgbClr val="E2E8F0"/>
                      </a:solidFill>
                    </a:lnL>
                    <a:lnR w="6350">
                      <a:solidFill>
                        <a:srgbClr val="E2E8F0"/>
                      </a:solidFill>
                    </a:lnR>
                    <a:lnT w="6350">
                      <a:solidFill>
                        <a:srgbClr val="E2E8F0"/>
                      </a:solidFill>
                    </a:lnT>
                    <a:lnB w="6350">
                      <a:solidFill>
                        <a:srgbClr val="E2E8F0"/>
                      </a:solidFill>
                    </a:lnB>
                  </a:tcPr>
                </a:tc>
              </a:tr>
            </a:tbl>
          </a:graphicData>
        </a:graphic>
      </p:graphicFrame>
      <p:sp>
        <p:nvSpPr>
          <p:cNvPr id="11" name="TextBox 10"/>
          <p:cNvSpPr txBox="1"/>
          <p:nvPr/>
        </p:nvSpPr>
        <p:spPr>
          <a:xfrm>
            <a:off x="1005840" y="5120640"/>
            <a:ext cx="4754880" cy="274320"/>
          </a:xfrm>
          <a:prstGeom prst="rect">
            <a:avLst/>
          </a:prstGeom>
          <a:noFill/>
        </p:spPr>
        <p:txBody>
          <a:bodyPr wrap="square">
            <a:spAutoFit/>
          </a:bodyPr>
          <a:lstStyle/>
          <a:p>
            <a:pPr algn="l"/>
            <a:r>
              <a:rPr sz="1100" b="1">
                <a:solidFill>
                  <a:srgbClr val="1A1A2E"/>
                </a:solidFill>
                <a:latin typeface="Segoe UI Semibold"/>
              </a:rPr>
              <a:t>Performance Notes</a:t>
            </a:r>
          </a:p>
        </p:txBody>
      </p:sp>
      <p:sp>
        <p:nvSpPr>
          <p:cNvPr id="12" name="TextBox 11"/>
          <p:cNvSpPr txBox="1"/>
          <p:nvPr/>
        </p:nvSpPr>
        <p:spPr>
          <a:xfrm>
            <a:off x="1005840" y="5394960"/>
            <a:ext cx="4754880" cy="731520"/>
          </a:xfrm>
          <a:prstGeom prst="rect">
            <a:avLst/>
          </a:prstGeom>
          <a:noFill/>
        </p:spPr>
        <p:txBody>
          <a:bodyPr wrap="square">
            <a:spAutoFit/>
          </a:bodyPr>
          <a:lstStyle/>
          <a:p>
            <a:pPr algn="l"/>
            <a:r>
              <a:rPr sz="950" b="0">
                <a:solidFill>
                  <a:srgbClr val="4A4A55"/>
                </a:solidFill>
                <a:latin typeface="Segoe UI"/>
              </a:rPr>
              <a:t>•  Measures 33-end: Both hands 8va to end
•  Dynamic marking: mp (mezzo piano) at measure 33
•  Ending passage: "Thump-et-y thump thump, over the hills of snow"</a:t>
            </a:r>
          </a:p>
        </p:txBody>
      </p:sp>
      <p:sp>
        <p:nvSpPr>
          <p:cNvPr id="13" name="Rounded Rectangle 12"/>
          <p:cNvSpPr/>
          <p:nvPr/>
        </p:nvSpPr>
        <p:spPr>
          <a:xfrm>
            <a:off x="6400800" y="1691640"/>
            <a:ext cx="5120640" cy="4572000"/>
          </a:xfrm>
          <a:prstGeom prst="roundRect">
            <a:avLst/>
          </a:prstGeom>
          <a:solidFill>
            <a:srgbClr val="F7F7FA"/>
          </a:solidFill>
          <a:ln w="12700">
            <a:solidFill>
              <a:srgbClr val="E8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691640"/>
            <a:ext cx="50800" cy="4572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828800"/>
            <a:ext cx="4572000" cy="320040"/>
          </a:xfrm>
          <a:prstGeom prst="rect">
            <a:avLst/>
          </a:prstGeom>
          <a:noFill/>
        </p:spPr>
        <p:txBody>
          <a:bodyPr wrap="square">
            <a:spAutoFit/>
          </a:bodyPr>
          <a:lstStyle/>
          <a:p>
            <a:pPr algn="l"/>
            <a:r>
              <a:rPr sz="1400" b="1">
                <a:solidFill>
                  <a:srgbClr val="1A1A2E"/>
                </a:solidFill>
                <a:latin typeface="Segoe UI Semibold"/>
              </a:rPr>
              <a:t>Lyrics</a:t>
            </a:r>
          </a:p>
        </p:txBody>
      </p:sp>
      <p:sp>
        <p:nvSpPr>
          <p:cNvPr id="16" name="Rectangle 15"/>
          <p:cNvSpPr/>
          <p:nvPr/>
        </p:nvSpPr>
        <p:spPr>
          <a:xfrm>
            <a:off x="6675120" y="2176272"/>
            <a:ext cx="731520" cy="25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2331720"/>
            <a:ext cx="2011680" cy="228600"/>
          </a:xfrm>
          <a:prstGeom prst="rect">
            <a:avLst/>
          </a:prstGeom>
          <a:noFill/>
        </p:spPr>
        <p:txBody>
          <a:bodyPr wrap="square">
            <a:spAutoFit/>
          </a:bodyPr>
          <a:lstStyle/>
          <a:p>
            <a:pPr algn="l"/>
            <a:r>
              <a:rPr sz="1000" b="1">
                <a:solidFill>
                  <a:srgbClr val="F43F5E"/>
                </a:solidFill>
                <a:latin typeface="Segoe UI Semibold"/>
              </a:rPr>
              <a:t>Verse 1</a:t>
            </a:r>
          </a:p>
        </p:txBody>
      </p:sp>
      <p:sp>
        <p:nvSpPr>
          <p:cNvPr id="18" name="TextBox 17"/>
          <p:cNvSpPr txBox="1"/>
          <p:nvPr/>
        </p:nvSpPr>
        <p:spPr>
          <a:xfrm>
            <a:off x="6675120" y="2560320"/>
            <a:ext cx="4572000" cy="2011680"/>
          </a:xfrm>
          <a:prstGeom prst="rect">
            <a:avLst/>
          </a:prstGeom>
          <a:noFill/>
        </p:spPr>
        <p:txBody>
          <a:bodyPr wrap="square">
            <a:spAutoFit/>
          </a:bodyPr>
          <a:lstStyle/>
          <a:p>
            <a:pPr algn="l"/>
            <a:r>
              <a:rPr sz="900" b="0">
                <a:solidFill>
                  <a:srgbClr val="4A4A55"/>
                </a:solidFill>
                <a:latin typeface="Segoe UI"/>
              </a:rPr>
              <a:t>Frosty the Snow Man was a jolly happy soul,
With a corn cob pipe and a button nose
and two eyes made out of coal.
Frosty the Snow Man is a fairy tale, they say,
He was made of snow but the children know
how he came to life one day.
There must have been some magic
in that old silk hat they found.
For when they placed it on his head
he began to dance around.</a:t>
            </a:r>
          </a:p>
        </p:txBody>
      </p:sp>
      <p:sp>
        <p:nvSpPr>
          <p:cNvPr id="19" name="TextBox 18"/>
          <p:cNvSpPr txBox="1"/>
          <p:nvPr/>
        </p:nvSpPr>
        <p:spPr>
          <a:xfrm>
            <a:off x="6675120" y="4572000"/>
            <a:ext cx="2011680" cy="228600"/>
          </a:xfrm>
          <a:prstGeom prst="rect">
            <a:avLst/>
          </a:prstGeom>
          <a:noFill/>
        </p:spPr>
        <p:txBody>
          <a:bodyPr wrap="square">
            <a:spAutoFit/>
          </a:bodyPr>
          <a:lstStyle/>
          <a:p>
            <a:pPr algn="l"/>
            <a:r>
              <a:rPr sz="1000" b="1">
                <a:solidFill>
                  <a:srgbClr val="F43F5E"/>
                </a:solidFill>
                <a:latin typeface="Segoe UI Semibold"/>
              </a:rPr>
              <a:t>Verse 2</a:t>
            </a:r>
          </a:p>
        </p:txBody>
      </p:sp>
      <p:sp>
        <p:nvSpPr>
          <p:cNvPr id="20" name="TextBox 19"/>
          <p:cNvSpPr txBox="1"/>
          <p:nvPr/>
        </p:nvSpPr>
        <p:spPr>
          <a:xfrm>
            <a:off x="6675120" y="4800600"/>
            <a:ext cx="4572000" cy="1371600"/>
          </a:xfrm>
          <a:prstGeom prst="rect">
            <a:avLst/>
          </a:prstGeom>
          <a:noFill/>
        </p:spPr>
        <p:txBody>
          <a:bodyPr wrap="square">
            <a:spAutoFit/>
          </a:bodyPr>
          <a:lstStyle/>
          <a:p>
            <a:pPr algn="l"/>
            <a:r>
              <a:rPr sz="900" b="0">
                <a:solidFill>
                  <a:srgbClr val="4A4A55"/>
                </a:solidFill>
                <a:latin typeface="Segoe UI"/>
              </a:rPr>
              <a:t>Frosty the Snow Man knew the sun was hot that day,
So he said, "Let's run and we'll have some fun
now before I melt away."
Frosty the Snow Man had to hurry on his way,
But he waved goodbye sayin' "Don't you cry,
I'll be back again some day."</a:t>
            </a:r>
          </a:p>
        </p:txBody>
      </p:sp>
      <p:sp>
        <p:nvSpPr>
          <p:cNvPr id="21" name="TextBox 20"/>
          <p:cNvSpPr txBox="1"/>
          <p:nvPr/>
        </p:nvSpPr>
        <p:spPr>
          <a:xfrm>
            <a:off x="10058400" y="6281928"/>
            <a:ext cx="1463040" cy="256032"/>
          </a:xfrm>
          <a:prstGeom prst="rect">
            <a:avLst/>
          </a:prstGeom>
          <a:noFill/>
        </p:spPr>
        <p:txBody>
          <a:bodyPr wrap="square">
            <a:spAutoFit/>
          </a:bodyPr>
          <a:lstStyle/>
          <a:p>
            <a:pPr algn="ctr"/>
            <a:r>
              <a:rPr sz="800" b="0">
                <a:solidFill>
                  <a:srgbClr val="9B9BA3"/>
                </a:solidFill>
                <a:latin typeface="Segoe UI"/>
              </a:rPr>
              <a:t>Page 16-17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